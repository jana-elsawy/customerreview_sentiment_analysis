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B9AE"/>
                </a:solidFill>
              </a:rPr>
              <a:t>PREDICTING CUSTOMER RECOMMENDATIONS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 She Recommend It?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EDA"/>
                </a:solidFill>
              </a:rPr>
              <a:t>NLP-driven analysis &amp; machine learning on 22,600+ women's clothing reviews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2011680" cy="0"/>
          </a:xfrm>
          <a:prstGeom prst="line">
            <a:avLst/>
          </a:prstGeom>
          <a:noFill/>
          <a:ln w="38100">
            <a:solidFill>
              <a:srgbClr val="D96C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F"/>
                </a:solidFill>
              </a:rPr>
              <a:t>Dima  •  Faculty of Science, Ain Shams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a review's text predict a purchase recommendation?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5F7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A6C"/>
                </a:solidFill>
              </a:rPr>
              <a:t>The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2971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472"/>
                </a:solidFill>
              </a:rPr>
              <a:t>23,486 real customer reviews of women's clothing: free text, star rating, age, product category, and a binary 'Recommended' flag.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5F7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874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A6C"/>
                </a:solidFill>
              </a:rPr>
              <a:t>The Question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2377440"/>
            <a:ext cx="2971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472"/>
                </a:solidFill>
              </a:rPr>
              <a:t>82% of reviewers recommend the item they bought. Can we flag the 18% who won't — early, and from what they write?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5F7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8745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A6C"/>
                </a:solidFill>
              </a:rPr>
              <a:t>The Value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0" y="2377440"/>
            <a:ext cx="2971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472"/>
                </a:solidFill>
              </a:rPr>
              <a:t>Early detection of unhappy customers enables faster support response, smarter product/category insights, and better catalog decisions.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1F7A6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Clean &amp; Dedupe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148840" y="3063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1AC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423160" y="274320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1F7A6C"/>
          </a:solidFill>
          <a:ln/>
        </p:spPr>
      </p:sp>
      <p:sp>
        <p:nvSpPr>
          <p:cNvPr id="8" name="Text 6"/>
          <p:cNvSpPr/>
          <p:nvPr/>
        </p:nvSpPr>
        <p:spPr>
          <a:xfrm>
            <a:off x="2331720" y="27432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NLP Preprocessing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23360" y="3063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1AC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297680" y="274320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D96C4A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27432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Text Embeddings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897880" y="3063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1AC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72200" y="274320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D96C4A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27432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Feature Fusion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0" y="3063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1AC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46720" y="274320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0" y="27432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Model &amp; Tune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46920" y="3063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1AC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921240" y="274320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9829800" y="27432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Explain &amp; Deploy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4480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</a:rPr>
              <a:t>23,486 raw reviews  →  22,627 after cleaning/dedup  →  22,611 after NLP filtering  →  416 combined features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 &amp; preparation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What we removed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</a:rPr>
              <a:t>Dropped the unused index column and rows missing Review Text, Division, Department, or Class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</a:rPr>
              <a:t>Removed 1 exact duplicate row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43484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</a:rPr>
              <a:t>Result: 22,627 clean rows across 10 columns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What we noted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23317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</a:rPr>
              <a:t>Class balance: 82% recommended vs. 18% not recommended — a real-world imbalance handled with class-weighting during modeling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361188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</a:rPr>
              <a:t>Title kept ~13% missing (not used as a model feature)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NLP text preprocessing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EAF2F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105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6C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0242C"/>
                </a:solidFill>
              </a:rPr>
              <a:t>Lowercase text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173736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EAF2F0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105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6C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2194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0242C"/>
                </a:solidFill>
              </a:rPr>
              <a:t>Strip URLs &amp; HTML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EAF2F0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8105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6C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2194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0242C"/>
                </a:solidFill>
              </a:rPr>
              <a:t>Remove digits &amp; punctuation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15400" y="173736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EAF2F0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8105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6C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052560" y="2194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0242C"/>
                </a:solidFill>
              </a:rPr>
              <a:t>Strip emoji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BEFE9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2735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6C4A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3657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0242C"/>
                </a:solidFill>
              </a:rPr>
              <a:t>Tokenize (NLTK)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337560" y="32004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BEFE9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32735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6C4A"/>
                </a:solidFill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3657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0242C"/>
                </a:solidFill>
              </a:rPr>
              <a:t>Remove stopwords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0" y="32004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BEFE9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32735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6C4A"/>
                </a:solidFill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3657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0242C"/>
                </a:solidFill>
              </a:rPr>
              <a:t>Lemmatize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915400" y="32004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BEFE9"/>
          </a:solidFill>
          <a:ln/>
        </p:spPr>
      </p:sp>
      <p:sp>
        <p:nvSpPr>
          <p:cNvPr id="26" name="Text 24"/>
          <p:cNvSpPr/>
          <p:nvPr/>
        </p:nvSpPr>
        <p:spPr>
          <a:xfrm>
            <a:off x="9052560" y="32735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6C4A"/>
                </a:solidFill>
              </a:rPr>
              <a:t>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052560" y="3657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0242C"/>
                </a:solidFill>
              </a:rPr>
              <a:t>Keep reviews with 3+ words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4892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</a:rPr>
              <a:t>Cleaned reviews were then embedded with a pretrained sentence-transformer (all-MiniLM-L6-v2) into 384-dimensional vectors that capture semantic meaning.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Fusing text with structured signals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384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Semantic text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embedding dims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1F7A6C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78308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343400" y="26060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Numeric features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Rating, Age, Feedback Count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D96C4A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178308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29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138160" y="26060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One-hot category dims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Division / Department / Class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3977640"/>
            <a:ext cx="5577840" cy="822960"/>
          </a:xfrm>
          <a:prstGeom prst="roundRect">
            <a:avLst>
              <a:gd name="adj" fmla="val 11111"/>
            </a:avLst>
          </a:prstGeom>
          <a:solidFill>
            <a:srgbClr val="F4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397764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42C"/>
                </a:solidFill>
              </a:rPr>
              <a:t>= 416-dimensional combined feature vector per review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</a:rPr>
              <a:t>Numeric features standardized with StandardScaler; categories one-hot encoded.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comparison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7680960" cy="292608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1645920"/>
                <a:gridCol w="1645920"/>
              </a:tblGrid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F1 (class 0)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Logistic Regression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93%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0.84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Random Forest (tuned)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93%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0.81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XGBoost (tuned)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94%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0.85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0.97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Voting Ensemble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94%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0.84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0.98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Stacking Ensemble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93%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0.84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0242C"/>
                          </a:solidFill>
                        </a:rPr>
                        <a:t>0.98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1737360"/>
            <a:ext cx="3154680" cy="2926080"/>
          </a:xfrm>
          <a:prstGeom prst="roundRect">
            <a:avLst>
              <a:gd name="adj" fmla="val 2500"/>
            </a:avLst>
          </a:prstGeom>
          <a:solidFill>
            <a:srgbClr val="EAF2F0"/>
          </a:solidFill>
          <a:ln/>
        </p:spPr>
      </p:sp>
      <p:sp>
        <p:nvSpPr>
          <p:cNvPr id="6" name="Text 3"/>
          <p:cNvSpPr/>
          <p:nvPr/>
        </p:nvSpPr>
        <p:spPr>
          <a:xfrm>
            <a:off x="8732520" y="19202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7A6C"/>
                </a:solidFill>
              </a:rPr>
              <a:t>Class 0 = 'Not Recommended'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F7A6C"/>
                </a:solidFill>
              </a:rPr>
              <a:t>(the minority, harder class)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732520" y="26974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42C"/>
                </a:solidFill>
              </a:rPr>
              <a:t>XGBoost (tuned) gives the best balance of accuracy and recall on the minority class — selected as the primary model.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4846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</a:rPr>
              <a:t>All models trained with class-weighting / scale_pos_weight to address the 82/18 imbalance. XGBoost hyperparameters tuned via RandomizedSearchCV (F1-optimized, 3-fold CV).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Checking for overfitting &amp; tuning the decision threshold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Train vs. Test accuracy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2423160"/>
          <a:ext cx="4846320" cy="1645920"/>
        </p:xfrm>
        <a:graphic>
          <a:graphicData uri="http://schemas.openxmlformats.org/drawingml/2006/table">
            <a:tbl>
              <a:tblPr/>
              <a:tblGrid>
                <a:gridCol w="2286000"/>
                <a:gridCol w="128016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7A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Train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7A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7A6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XGBoost (tuned)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99.9%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94.1%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Voting Ensemble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96.7%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93.6%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Stacking Ensemble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93.6%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93.4%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68680" y="420624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</a:rPr>
              <a:t>XGBoost shows the widest train/test gap — a sign of some overfitting despite tuning, worth watching as new data arrives.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6916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4F5F7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Threshold tuning (Logistic Regression)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83680" y="23774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</a:rPr>
              <a:t>Default 0.5 threshold favors the majority class. Optimizing for class 0 (Not Recommended) via precision-recall curve:</a:t>
            </a:r>
            <a:endParaRPr lang="en-US" sz="12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3200400"/>
          <a:ext cx="4846320" cy="1554480"/>
        </p:xfrm>
        <a:graphic>
          <a:graphicData uri="http://schemas.openxmlformats.org/drawingml/2006/table">
            <a:tbl>
              <a:tblPr/>
              <a:tblGrid>
                <a:gridCol w="2194560"/>
                <a:gridCol w="1325880"/>
                <a:gridCol w="1325880"/>
              </a:tblGrid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96C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Default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96C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Tuned (0.69)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96C4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242C"/>
                          </a:solidFill>
                        </a:rPr>
                        <a:t>Precision (class 0)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0242C"/>
                          </a:solidFill>
                        </a:rPr>
                        <a:t>0.75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0242C"/>
                          </a:solidFill>
                        </a:rPr>
                        <a:t>0.78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242C"/>
                          </a:solidFill>
                        </a:rPr>
                        <a:t>Recall (class 0)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0242C"/>
                          </a:solidFill>
                        </a:rPr>
                        <a:t>0.94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0242C"/>
                          </a:solidFill>
                        </a:rPr>
                        <a:t>0.93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242C"/>
                          </a:solidFill>
                        </a:rPr>
                        <a:t>F1 (class 0)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0242C"/>
                          </a:solidFill>
                        </a:rPr>
                        <a:t>0.84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0242C"/>
                          </a:solidFill>
                        </a:rPr>
                        <a:t>0.85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the model decide what it decides?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6C4A"/>
                </a:solidFill>
              </a:rPr>
              <a:t>SHAP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2971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</a:rPr>
              <a:t>Explains TF-IDF + Logistic Regression predictions — surfaces which words push a review toward 'recommended' or not.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4F5F7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18288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6C4A"/>
                </a:solidFill>
              </a:rPr>
              <a:t>LIME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2331720"/>
            <a:ext cx="2971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</a:rPr>
              <a:t>Explains individual predictions in plain language — highlighted words show local reasoning for a single review.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4F5F7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18288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6C4A"/>
                </a:solidFill>
              </a:rPr>
              <a:t>Permutation Importance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0" y="2331720"/>
            <a:ext cx="2971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</a:rPr>
              <a:t>Rating dominates feature importance (0.14), far above any single embedding dimension — a key insight to caveat.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 rating carries most of the predictive signal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CE6"/>
                </a:solidFill>
              </a:rPr>
              <a:t>Group permutation importance shows structured features (mainly Rating) account for ~0.63 of importance vs. ~0.036 for all 384 text-embedding dimensions combined. This makes sense — rating and recommendation are closely linked in how customers respond — but it means the text embeddings mainly add value for the harder, ambiguous cases where rating alone doesn't tell the full story.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6634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24365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66344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Takeaway: use the text-only model when rating isn't available yet (e.g., live typing before submission) — this is exactly the scenario the deployed app targets.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Unsupervised clustering of review themes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K-Means (k=6) on PCA-reduced embeddings groups reviews into recurring themes — fit &amp; flattery, jeans/denim, fabric quality, sizing complaints, and more.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64240" cy="3291840"/>
        </p:xfrm>
        <a:graphic>
          <a:graphicData uri="http://schemas.openxmlformats.org/drawingml/2006/table">
            <a:tbl>
              <a:tblPr/>
              <a:tblGrid>
                <a:gridCol w="1188720"/>
                <a:gridCol w="1463040"/>
                <a:gridCol w="2377440"/>
                <a:gridCol w="6035040"/>
              </a:tblGrid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Cluster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7A6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Size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7A6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Recommend Rate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7A6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Top words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7A6C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2,960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high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beautiful, flattering, love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2,862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high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jean, comfortable, pair, fit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7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3,435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medium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fabric, size, color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3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5,006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medium-high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dress, fit, love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7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4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3,333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lower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size, small, look, return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5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5,015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medium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0242C"/>
                          </a:solidFill>
                        </a:rPr>
                        <a:t>top, wear, great, color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PRODUCTIONIZING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notebook to a live 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</a:rPr>
              <a:t>1. Lightweight pipeline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2971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</a:rPr>
              <a:t>For deployment, text is vectorized with TF-IDF (self-contained, no large model download) instead of sentence-transformer embeddings — same cleaning steps, production-friendly.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19202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2. Streamlit interface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617720" y="2514600"/>
            <a:ext cx="2971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CE6"/>
                </a:solidFill>
              </a:rPr>
              <a:t>Users enter a review, rating, age, and category; the app returns a Recommended / Not Recommended prediction with a confidence score.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4F5F7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19202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</a:rPr>
              <a:t>3. Ready to ship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12480" y="2514600"/>
            <a:ext cx="2971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</a:rPr>
              <a:t>Runs locally with one command, or deploys free on Streamlit Community Cloud with a public shareable link.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EAF2F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7A6C"/>
                </a:solidFill>
              </a:rPr>
              <a:t>What we achieved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242C"/>
                </a:solidFill>
              </a:rPr>
              <a:t>94% accuracy predicting recommendation from review + metadata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95351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242C"/>
                </a:solidFill>
              </a:rPr>
              <a:t>Full NLP pipeline: cleaning, tokenizing, lemmatizing, embeddings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57530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242C"/>
                </a:solidFill>
              </a:rPr>
              <a:t>Model interpretability via SHAP, LIME &amp; permutation importance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4197096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242C"/>
                </a:solidFill>
              </a:rPr>
              <a:t>Unsupervised review-theme clustering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481888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242C"/>
                </a:solidFill>
              </a:rPr>
              <a:t>Deployed as an interactive Streamlit app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BEFE9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6C4A"/>
                </a:solidFill>
              </a:rPr>
              <a:t>Next steps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83680" y="233172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242C"/>
                </a:solidFill>
              </a:rPr>
              <a:t>Fit the numeric scaler on the training split only, to fully close the leakage gap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83680" y="3044952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242C"/>
                </a:solidFill>
              </a:rPr>
              <a:t>Try text-only vs. text+rating models to quantify rating's contribution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0" y="3758184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242C"/>
                </a:solidFill>
              </a:rPr>
              <a:t>Collect more minority-class examples to reduce train/test overfitting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0" y="4471416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242C"/>
                </a:solidFill>
              </a:rPr>
              <a:t>Add explanations (LIME) directly inside the deployed app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2026-07-19T21:15:51Z</dcterms:created>
  <dcterms:modified xsi:type="dcterms:W3CDTF">2026-07-19T21:15:51Z</dcterms:modified>
</cp:coreProperties>
</file>